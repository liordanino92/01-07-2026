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72" d="100"/>
          <a:sy n="72" d="100"/>
        </p:scale>
        <p:origin x="11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3CCD-B369-9331-2151-5AC7ADED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E9E08-BB77-C37B-5D81-2CF46A42F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28574-A931-A9D4-23D6-783B55BB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DADC2-10F4-427A-F715-9184EA7B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0109-E1C0-FB9A-08D2-FE3DC459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451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3FB5-92E8-8766-28FA-185C7EA3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F97B-24A2-BD82-35CC-528ECE26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B9226-507B-D7C8-70DB-58A5167A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A767-F33C-E419-F4B6-754C963B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8264-2E63-1596-7385-8C6BC5DF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133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7732-8417-9D95-5844-20CC6421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0EE69-40EF-F592-0524-A126A17B8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5DE2-19E6-AA6C-B738-AB1B70AB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35482-45A7-408A-9B4F-821A4A70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701FF-B1BF-36EB-1546-B40ED252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820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F2BF-806D-7B9E-9058-B0BC0025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1698-6239-EF7D-8761-040751448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4CFD1-9260-52C8-2D4B-4106A336F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0B572-CED0-5031-6730-295328AD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0C0E0-8FAA-DF00-78D9-C3DB9861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324C9-21B3-3F4E-0162-1B039ACA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331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1B37-236B-5937-4B5D-60DC052F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E2C00-7B09-7A51-5801-7B30D2C6D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7E2C1-3805-B6F0-516E-8895AF55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DCDA9-A9F0-611E-7D9F-BEF60C123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60477-ABAD-6ACF-29BA-5332374D9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0D057-F790-89C0-3CF8-AD25FE3F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33816-EDC6-E4DD-5AD6-438C8814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53A33-9666-3C0D-F1B5-1E61A49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035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C22B-7BB8-B5FD-2ACE-958684A9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ECCF8-6210-55D3-7891-B8DC8CD9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3FD3-C7C7-C26C-6A1E-B3D9D11D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69A37-6AF4-3537-554E-B42B867B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32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FEC84-FB5B-4EA7-FE17-11537ED7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9E5D6-944E-0576-A43C-EAD75E81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B1E9F-4472-E76D-0F81-AFC82099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874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4658-5C20-868F-A704-A586D1D5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680-8A75-6400-E89B-77CF6177C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E084C-57F7-A2F0-3B70-115B27F3C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2A9D5-0ED7-7368-8ED8-C057DA15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551F5-5328-7EEB-48BC-8A297D26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701E0-5782-524A-D0C8-E7DF1356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391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3D32-9D19-4295-390E-FB878B72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BE6D-BF80-A792-901E-67847DC17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659D4-6C73-686D-E86A-125C2990A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37FD0-C743-72B4-8CCB-17713412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24B90-C4CA-E417-386C-6A30A922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F1DE2-AF38-FDCC-1C31-F07A9630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045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279C-F0D9-04F1-1D2C-79232AB3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00175-03E3-4D18-934C-D197D2970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2A14A-EF49-C1AE-9F5F-A9B41351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00E20-005B-18F5-7CDF-607843F8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AF9B-2ECC-FE2F-0CFE-ED64333E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567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60686-B27C-1DA4-79E3-4AAF26CFC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32FEF-37FA-D14E-CC48-2F09CF2B1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4DF4C-99A5-2A27-7FED-7B16FA57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BA754-A732-F08C-37FD-BE9AA219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65D8-4248-A2EF-76FB-182DCFF5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2508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E5BE9-14B9-172B-848E-4AF22962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4F8DE-E24D-7E59-01C7-1CD5F7A2F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1DF3-729F-0916-46F3-9B006F318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C65FA-F738-467D-ABB4-6AD4C89210AF}" type="datetimeFigureOut">
              <a:rPr lang="he-IL" smtClean="0"/>
              <a:t>ט'/ניסן/תשפ"ו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9D183-2D9C-87FE-41BA-1AD2053C3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D1A-A314-9AB0-0EC9-7DA9997D6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6EEEF-92B4-4242-9DD4-60D0FE3D18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10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105AAB-4E67-622D-4080-510A2F31415C}"/>
              </a:ext>
            </a:extLst>
          </p:cNvPr>
          <p:cNvSpPr/>
          <p:nvPr/>
        </p:nvSpPr>
        <p:spPr>
          <a:xfrm>
            <a:off x="156546" y="279442"/>
            <a:ext cx="2371334" cy="2016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B55FFD-02EE-6282-3BE2-0FC4455ECF5B}"/>
              </a:ext>
            </a:extLst>
          </p:cNvPr>
          <p:cNvSpPr/>
          <p:nvPr/>
        </p:nvSpPr>
        <p:spPr>
          <a:xfrm>
            <a:off x="4998932" y="279441"/>
            <a:ext cx="2371334" cy="1641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1718CA-6033-43EB-ACD2-31C45618B463}"/>
              </a:ext>
            </a:extLst>
          </p:cNvPr>
          <p:cNvSpPr/>
          <p:nvPr/>
        </p:nvSpPr>
        <p:spPr>
          <a:xfrm>
            <a:off x="156546" y="2533358"/>
            <a:ext cx="2371334" cy="1641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90ECAC-8546-A0B4-09AF-65EBA96CA941}"/>
              </a:ext>
            </a:extLst>
          </p:cNvPr>
          <p:cNvSpPr/>
          <p:nvPr/>
        </p:nvSpPr>
        <p:spPr>
          <a:xfrm>
            <a:off x="4998932" y="2533357"/>
            <a:ext cx="2371334" cy="1641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2D0876-F34C-F5DD-5BD1-32573B05C135}"/>
              </a:ext>
            </a:extLst>
          </p:cNvPr>
          <p:cNvSpPr/>
          <p:nvPr/>
        </p:nvSpPr>
        <p:spPr>
          <a:xfrm>
            <a:off x="156546" y="5043946"/>
            <a:ext cx="2371334" cy="17452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BE0F0B-3987-8EFD-456C-6E916A586208}"/>
              </a:ext>
            </a:extLst>
          </p:cNvPr>
          <p:cNvSpPr/>
          <p:nvPr/>
        </p:nvSpPr>
        <p:spPr>
          <a:xfrm>
            <a:off x="4998932" y="5043945"/>
            <a:ext cx="2371334" cy="1641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A15A3-BCB8-4F8E-8788-8117E9C484AC}"/>
              </a:ext>
            </a:extLst>
          </p:cNvPr>
          <p:cNvSpPr/>
          <p:nvPr/>
        </p:nvSpPr>
        <p:spPr>
          <a:xfrm>
            <a:off x="250222" y="36854"/>
            <a:ext cx="2192594" cy="572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spcBef>
                <a:spcPts val="50"/>
              </a:spcBef>
            </a:pPr>
            <a:r>
              <a:rPr lang="en-US" b="1" dirty="0">
                <a:solidFill>
                  <a:schemeClr val="tx1"/>
                </a:solidFill>
              </a:rPr>
              <a:t>User</a:t>
            </a:r>
          </a:p>
          <a:p>
            <a:pPr algn="ctr">
              <a:spcBef>
                <a:spcPts val="50"/>
              </a:spcBef>
            </a:pPr>
            <a:r>
              <a:rPr lang="he-IL" b="1" dirty="0">
                <a:solidFill>
                  <a:schemeClr val="tx1"/>
                </a:solidFill>
              </a:rPr>
              <a:t>משתמש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CCF567-7D7C-1825-CA8E-045D97922136}"/>
              </a:ext>
            </a:extLst>
          </p:cNvPr>
          <p:cNvSpPr/>
          <p:nvPr/>
        </p:nvSpPr>
        <p:spPr>
          <a:xfrm>
            <a:off x="5092608" y="36854"/>
            <a:ext cx="2192594" cy="572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Cart</a:t>
            </a:r>
            <a:endParaRPr lang="he-IL" b="1" dirty="0">
              <a:solidFill>
                <a:schemeClr val="tx1"/>
              </a:solidFill>
            </a:endParaRPr>
          </a:p>
          <a:p>
            <a:pPr algn="ctr"/>
            <a:r>
              <a:rPr lang="he-IL" sz="1600" b="1" dirty="0">
                <a:solidFill>
                  <a:schemeClr val="tx1"/>
                </a:solidFill>
              </a:rPr>
              <a:t>סל קניות של משתמש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731D5C-3BB6-7830-9843-A7606A28B027}"/>
              </a:ext>
            </a:extLst>
          </p:cNvPr>
          <p:cNvSpPr/>
          <p:nvPr/>
        </p:nvSpPr>
        <p:spPr>
          <a:xfrm>
            <a:off x="250222" y="2390978"/>
            <a:ext cx="2192594" cy="572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Product</a:t>
            </a:r>
          </a:p>
          <a:p>
            <a:pPr algn="ctr"/>
            <a:r>
              <a:rPr lang="he-IL" sz="1000" dirty="0">
                <a:solidFill>
                  <a:schemeClr val="tx1"/>
                </a:solidFill>
              </a:rPr>
              <a:t>מייצגת מוצר במערכת</a:t>
            </a:r>
            <a:r>
              <a:rPr lang="en-US" sz="1000" b="1" dirty="0">
                <a:solidFill>
                  <a:schemeClr val="tx1"/>
                </a:solidFill>
              </a:rPr>
              <a:t> 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99B266-1E92-74E8-6A20-8DA6BB62C4B6}"/>
              </a:ext>
            </a:extLst>
          </p:cNvPr>
          <p:cNvSpPr/>
          <p:nvPr/>
        </p:nvSpPr>
        <p:spPr>
          <a:xfrm>
            <a:off x="5102440" y="2390978"/>
            <a:ext cx="2192594" cy="572600"/>
          </a:xfrm>
          <a:prstGeom prst="round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CartItem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he-IL" sz="1200" dirty="0">
                <a:solidFill>
                  <a:schemeClr val="tx1"/>
                </a:solidFill>
              </a:rPr>
              <a:t>מייצגת מוצר שנוסף לסל</a:t>
            </a:r>
            <a:endParaRPr lang="he-IL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CB7236-4733-E50D-46E2-224E57E38A47}"/>
              </a:ext>
            </a:extLst>
          </p:cNvPr>
          <p:cNvSpPr/>
          <p:nvPr/>
        </p:nvSpPr>
        <p:spPr>
          <a:xfrm>
            <a:off x="250222" y="4885370"/>
            <a:ext cx="2167633" cy="572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b="1" dirty="0">
                <a:solidFill>
                  <a:schemeClr val="tx1"/>
                </a:solidFill>
              </a:rPr>
              <a:t>Store</a:t>
            </a:r>
          </a:p>
          <a:p>
            <a:pPr algn="ctr" rtl="1"/>
            <a:r>
              <a:rPr lang="he-IL" sz="1000" dirty="0">
                <a:solidFill>
                  <a:schemeClr val="tx1"/>
                </a:solidFill>
              </a:rPr>
              <a:t>מייצגת חנות המספקת מוצרים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A2B2CA-6AA1-07F5-6516-59355CB14A1E}"/>
              </a:ext>
            </a:extLst>
          </p:cNvPr>
          <p:cNvSpPr/>
          <p:nvPr/>
        </p:nvSpPr>
        <p:spPr>
          <a:xfrm>
            <a:off x="5092608" y="4901566"/>
            <a:ext cx="2192594" cy="5726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Result</a:t>
            </a:r>
            <a:endParaRPr lang="he-IL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480302-EC5B-C6B1-36D9-00C1649866DF}"/>
              </a:ext>
            </a:extLst>
          </p:cNvPr>
          <p:cNvCxnSpPr>
            <a:cxnSpLocks/>
          </p:cNvCxnSpPr>
          <p:nvPr/>
        </p:nvCxnSpPr>
        <p:spPr>
          <a:xfrm>
            <a:off x="2514422" y="1178172"/>
            <a:ext cx="2484510" cy="9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B0DC36-4B3E-9387-3CD3-73E72A4524EE}"/>
              </a:ext>
            </a:extLst>
          </p:cNvPr>
          <p:cNvCxnSpPr/>
          <p:nvPr/>
        </p:nvCxnSpPr>
        <p:spPr>
          <a:xfrm flipV="1">
            <a:off x="2527880" y="3418517"/>
            <a:ext cx="2377440" cy="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B50DF3-964D-9A68-1721-1109F99BC693}"/>
              </a:ext>
            </a:extLst>
          </p:cNvPr>
          <p:cNvCxnSpPr/>
          <p:nvPr/>
        </p:nvCxnSpPr>
        <p:spPr>
          <a:xfrm flipV="1">
            <a:off x="2539913" y="5864934"/>
            <a:ext cx="237744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1BAF71-27EF-4DAE-CCFB-4435222445E4}"/>
              </a:ext>
            </a:extLst>
          </p:cNvPr>
          <p:cNvCxnSpPr>
            <a:cxnSpLocks/>
          </p:cNvCxnSpPr>
          <p:nvPr/>
        </p:nvCxnSpPr>
        <p:spPr>
          <a:xfrm>
            <a:off x="6197125" y="1921428"/>
            <a:ext cx="0" cy="462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92F988-6BF6-446B-66E3-3C65DC6B86F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342213" y="4175345"/>
            <a:ext cx="0" cy="741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Diamond 24">
            <a:extLst>
              <a:ext uri="{FF2B5EF4-FFF2-40B4-BE49-F238E27FC236}">
                <a16:creationId xmlns:a16="http://schemas.microsoft.com/office/drawing/2014/main" id="{AAAA3C00-309B-FF3B-F64C-548588E3658A}"/>
              </a:ext>
            </a:extLst>
          </p:cNvPr>
          <p:cNvSpPr/>
          <p:nvPr/>
        </p:nvSpPr>
        <p:spPr>
          <a:xfrm>
            <a:off x="6115087" y="1921428"/>
            <a:ext cx="178301" cy="179434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8A1CDA-30E7-8C50-6743-CB1727E6AC9B}"/>
              </a:ext>
            </a:extLst>
          </p:cNvPr>
          <p:cNvSpPr txBox="1"/>
          <p:nvPr/>
        </p:nvSpPr>
        <p:spPr>
          <a:xfrm>
            <a:off x="1457198" y="4122823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0..*</a:t>
            </a:r>
            <a:endParaRPr lang="he-I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4084E3-3177-5998-4273-7655393E0616}"/>
              </a:ext>
            </a:extLst>
          </p:cNvPr>
          <p:cNvSpPr txBox="1"/>
          <p:nvPr/>
        </p:nvSpPr>
        <p:spPr>
          <a:xfrm>
            <a:off x="1449178" y="4547937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0..*</a:t>
            </a:r>
            <a:endParaRPr lang="he-IL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C4D188-5F38-DE14-DBB5-7AB0FC2BD9E0}"/>
              </a:ext>
            </a:extLst>
          </p:cNvPr>
          <p:cNvSpPr txBox="1"/>
          <p:nvPr/>
        </p:nvSpPr>
        <p:spPr>
          <a:xfrm>
            <a:off x="6273969" y="2114017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0..*</a:t>
            </a:r>
            <a:endParaRPr lang="he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584B34-2098-3AAE-156C-5C54740F4D91}"/>
              </a:ext>
            </a:extLst>
          </p:cNvPr>
          <p:cNvSpPr txBox="1"/>
          <p:nvPr/>
        </p:nvSpPr>
        <p:spPr>
          <a:xfrm>
            <a:off x="4564174" y="3082819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0..*</a:t>
            </a:r>
            <a:endParaRPr lang="he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84A949-B6AC-D7FE-2798-32EAEA6BC040}"/>
              </a:ext>
            </a:extLst>
          </p:cNvPr>
          <p:cNvSpPr txBox="1"/>
          <p:nvPr/>
        </p:nvSpPr>
        <p:spPr>
          <a:xfrm>
            <a:off x="4564173" y="5542000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0..*</a:t>
            </a:r>
            <a:endParaRPr lang="he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6635DD-E182-A954-36CF-1B5EF9BA6C9F}"/>
              </a:ext>
            </a:extLst>
          </p:cNvPr>
          <p:cNvSpPr txBox="1"/>
          <p:nvPr/>
        </p:nvSpPr>
        <p:spPr>
          <a:xfrm>
            <a:off x="2554661" y="5551933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</a:t>
            </a:r>
            <a:endParaRPr lang="he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CDF432-34AA-FCC2-9240-0BA6E628648E}"/>
              </a:ext>
            </a:extLst>
          </p:cNvPr>
          <p:cNvSpPr txBox="1"/>
          <p:nvPr/>
        </p:nvSpPr>
        <p:spPr>
          <a:xfrm>
            <a:off x="2502919" y="828817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</a:t>
            </a:r>
            <a:endParaRPr lang="he-I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81B924-03A1-5CB8-B8DF-A6E0CC323A4C}"/>
              </a:ext>
            </a:extLst>
          </p:cNvPr>
          <p:cNvSpPr txBox="1"/>
          <p:nvPr/>
        </p:nvSpPr>
        <p:spPr>
          <a:xfrm>
            <a:off x="4720473" y="858462"/>
            <a:ext cx="747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</a:t>
            </a:r>
            <a:endParaRPr lang="he-IL" dirty="0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B247B8B6-EE2C-1765-FE2D-C6DD48064975}"/>
              </a:ext>
            </a:extLst>
          </p:cNvPr>
          <p:cNvSpPr/>
          <p:nvPr/>
        </p:nvSpPr>
        <p:spPr>
          <a:xfrm>
            <a:off x="2546321" y="3327382"/>
            <a:ext cx="184980" cy="161958"/>
          </a:xfrm>
          <a:prstGeom prst="leftArrow">
            <a:avLst>
              <a:gd name="adj1" fmla="val 28694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0C61E8D6-35B6-2C1E-A234-4ECA2546F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95" y="428689"/>
            <a:ext cx="149111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משתמש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שם מלא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כתובת אימייל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סיסמה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מספר טלפון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עיר מגורים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C2E6C629-4AE8-C1EA-F706-075EA323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943" y="432708"/>
            <a:ext cx="271640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סל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המשתמש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רשימת פריטים בסל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E473A239-F0B4-50B7-08B4-60F861D3F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732" y="2826712"/>
            <a:ext cx="251011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מוצר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כמות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יחידת מידה (ק"ג / יחידה)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6" name="Rectangle 9">
            <a:extLst>
              <a:ext uri="{FF2B5EF4-FFF2-40B4-BE49-F238E27FC236}">
                <a16:creationId xmlns:a16="http://schemas.microsoft.com/office/drawing/2014/main" id="{B4FE27AB-EF16-D9B7-C0B4-8FD8D3100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19" y="2819346"/>
            <a:ext cx="237133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מוצר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שם המוצר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קטגוריה (פירות / ירקות וכו')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יחידת מידה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5C428B90-E654-382F-8206-9D0993525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6" y="5286601"/>
            <a:ext cx="206971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חנות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שם החנות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מיקום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רמת איכות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deliveryPrice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מחיר משלוח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minOrder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סכום מינימלי להזמנה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27CEC81D-FFAB-4D50-103E-765044EE8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077" y="5343375"/>
            <a:ext cx="245927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storeId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מזהה חנות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totalPrice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מחיר כולל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כיסוי סל (כמה מוצרים קיימים)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סטטוס (עומד בתנאים / לא)</a:t>
            </a:r>
            <a:r>
              <a:rPr kumimoji="0" lang="he-IL" altLang="he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0B58A-2581-F206-C46F-B5211144AD77}"/>
              </a:ext>
            </a:extLst>
          </p:cNvPr>
          <p:cNvSpPr txBox="1"/>
          <p:nvPr/>
        </p:nvSpPr>
        <p:spPr>
          <a:xfrm>
            <a:off x="7940679" y="636652"/>
            <a:ext cx="4175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תרשים המחלקות מציג את המבנה המרכזי של המערכת ואת הזרימה הלוגית של הנתונים.</a:t>
            </a:r>
            <a:br>
              <a:rPr lang="he-IL" dirty="0"/>
            </a:br>
            <a:r>
              <a:rPr lang="he-IL" dirty="0"/>
              <a:t>הוא מאפשר להבין איך המשתמש בונה סל, איך המוצרים נשמרים, ואיך מתבצע חישוב ההשוואה בין החנויות.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7EB7EB-5984-92BF-495D-28EBF06FC0F2}"/>
              </a:ext>
            </a:extLst>
          </p:cNvPr>
          <p:cNvCxnSpPr/>
          <p:nvPr/>
        </p:nvCxnSpPr>
        <p:spPr>
          <a:xfrm>
            <a:off x="335286" y="1542059"/>
            <a:ext cx="2167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5AF8D36-4A1E-2795-D46B-D0F84D2E523C}"/>
              </a:ext>
            </a:extLst>
          </p:cNvPr>
          <p:cNvCxnSpPr>
            <a:cxnSpLocks/>
          </p:cNvCxnSpPr>
          <p:nvPr/>
        </p:nvCxnSpPr>
        <p:spPr>
          <a:xfrm>
            <a:off x="5118951" y="1117843"/>
            <a:ext cx="2167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12">
            <a:extLst>
              <a:ext uri="{FF2B5EF4-FFF2-40B4-BE49-F238E27FC236}">
                <a16:creationId xmlns:a16="http://schemas.microsoft.com/office/drawing/2014/main" id="{BB88360F-FAE9-12CA-5B9C-C74362445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44" y="1398302"/>
            <a:ext cx="23465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updateProfile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4A691C-865B-D13A-FCF0-37B4703E6880}"/>
              </a:ext>
            </a:extLst>
          </p:cNvPr>
          <p:cNvSpPr txBox="1"/>
          <p:nvPr/>
        </p:nvSpPr>
        <p:spPr>
          <a:xfrm>
            <a:off x="4989134" y="1059654"/>
            <a:ext cx="26306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addItem</a:t>
            </a:r>
            <a:r>
              <a:rPr lang="en-US" sz="800" dirty="0"/>
              <a:t>(item: </a:t>
            </a:r>
            <a:r>
              <a:rPr lang="en-US" sz="800" dirty="0" err="1"/>
              <a:t>CartItem</a:t>
            </a:r>
            <a:r>
              <a:rPr lang="en-US" sz="800" dirty="0"/>
              <a:t>): void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removeItem</a:t>
            </a:r>
            <a:r>
              <a:rPr lang="en-US" sz="800" dirty="0"/>
              <a:t>(</a:t>
            </a:r>
            <a:r>
              <a:rPr lang="en-US" sz="800" dirty="0" err="1"/>
              <a:t>productId</a:t>
            </a:r>
            <a:r>
              <a:rPr lang="en-US" sz="800" dirty="0"/>
              <a:t>: int): void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updateQuantity</a:t>
            </a:r>
            <a:r>
              <a:rPr lang="en-US" sz="800" dirty="0"/>
              <a:t>(</a:t>
            </a:r>
            <a:r>
              <a:rPr lang="en-US" sz="800" dirty="0" err="1"/>
              <a:t>productId:int,quantity:double</a:t>
            </a:r>
            <a:r>
              <a:rPr lang="en-US" sz="800" dirty="0"/>
              <a:t>)void</a:t>
            </a:r>
            <a:r>
              <a:rPr lang="en-US" sz="5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getTotalItems</a:t>
            </a:r>
            <a:r>
              <a:rPr lang="en-US" sz="800" dirty="0"/>
              <a:t>(): int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clearCart</a:t>
            </a:r>
            <a:r>
              <a:rPr lang="en-US" sz="800" dirty="0"/>
              <a:t>(): void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dirty="0" err="1"/>
              <a:t>calculateResults</a:t>
            </a:r>
            <a:r>
              <a:rPr lang="en-US" sz="800" dirty="0"/>
              <a:t>(): List&lt;Result&gt;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2665F9C-014C-2D89-E3B6-9BD10DD5C297}"/>
              </a:ext>
            </a:extLst>
          </p:cNvPr>
          <p:cNvCxnSpPr/>
          <p:nvPr/>
        </p:nvCxnSpPr>
        <p:spPr>
          <a:xfrm>
            <a:off x="5022377" y="3489340"/>
            <a:ext cx="228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441102D-BCC2-B9AE-F760-A56C220CBFCB}"/>
              </a:ext>
            </a:extLst>
          </p:cNvPr>
          <p:cNvSpPr txBox="1"/>
          <p:nvPr/>
        </p:nvSpPr>
        <p:spPr>
          <a:xfrm>
            <a:off x="4992049" y="3529428"/>
            <a:ext cx="23713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getSubTotal</a:t>
            </a:r>
            <a:r>
              <a:rPr lang="en-US" sz="800" dirty="0"/>
              <a:t>(price: double): double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updateQuantity</a:t>
            </a:r>
            <a:r>
              <a:rPr lang="en-US" sz="800" dirty="0"/>
              <a:t>(quantity: double): void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1261784-6855-88CD-16F0-D1E180F5E5A4}"/>
              </a:ext>
            </a:extLst>
          </p:cNvPr>
          <p:cNvCxnSpPr/>
          <p:nvPr/>
        </p:nvCxnSpPr>
        <p:spPr>
          <a:xfrm>
            <a:off x="197453" y="3706291"/>
            <a:ext cx="228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13">
            <a:extLst>
              <a:ext uri="{FF2B5EF4-FFF2-40B4-BE49-F238E27FC236}">
                <a16:creationId xmlns:a16="http://schemas.microsoft.com/office/drawing/2014/main" id="{A7DCB6A4-B205-BBF3-406C-6C51B7022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6" y="3623568"/>
            <a:ext cx="28181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getDisplayName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getCategory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(): </a:t>
            </a:r>
            <a:r>
              <a:rPr kumimoji="0" lang="he-IL" altLang="he-IL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he-IL" altLang="he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7FC4B7-59D8-C4E8-527B-F8C74521607F}"/>
              </a:ext>
            </a:extLst>
          </p:cNvPr>
          <p:cNvSpPr txBox="1"/>
          <p:nvPr/>
        </p:nvSpPr>
        <p:spPr>
          <a:xfrm>
            <a:off x="271376" y="6383969"/>
            <a:ext cx="3041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isMinOrderMet</a:t>
            </a:r>
            <a:r>
              <a:rPr lang="en-US" sz="800" dirty="0"/>
              <a:t>(amount: double): </a:t>
            </a:r>
            <a:r>
              <a:rPr lang="en-US" sz="800" dirty="0" err="1"/>
              <a:t>boolean</a:t>
            </a:r>
            <a:r>
              <a:rPr lang="en-US" sz="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calculateDelivery</a:t>
            </a:r>
            <a:r>
              <a:rPr lang="en-US" sz="800" dirty="0"/>
              <a:t>(total: double): double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getQualityScore</a:t>
            </a:r>
            <a:r>
              <a:rPr lang="en-US" sz="800" dirty="0"/>
              <a:t>(): int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7978B89-D55B-D1DD-22CF-87CB4A04CD88}"/>
              </a:ext>
            </a:extLst>
          </p:cNvPr>
          <p:cNvCxnSpPr/>
          <p:nvPr/>
        </p:nvCxnSpPr>
        <p:spPr>
          <a:xfrm>
            <a:off x="174252" y="6432707"/>
            <a:ext cx="228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CA1B147-0E73-F46C-F6E6-9F4DDFB96B95}"/>
              </a:ext>
            </a:extLst>
          </p:cNvPr>
          <p:cNvSpPr txBox="1"/>
          <p:nvPr/>
        </p:nvSpPr>
        <p:spPr>
          <a:xfrm>
            <a:off x="5177145" y="6140319"/>
            <a:ext cx="19764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calculateFinalPrice</a:t>
            </a:r>
            <a:r>
              <a:rPr lang="en-US" sz="800" dirty="0"/>
              <a:t>(cart: Cart): double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calculateCoverage</a:t>
            </a:r>
            <a:r>
              <a:rPr lang="en-US" sz="800" dirty="0"/>
              <a:t>(cart: Cart): double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getCoveragePercent</a:t>
            </a:r>
            <a:r>
              <a:rPr lang="en-US" sz="800" dirty="0"/>
              <a:t>(): int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 err="1"/>
              <a:t>checkStatus</a:t>
            </a:r>
            <a:r>
              <a:rPr lang="en-US" sz="800" dirty="0"/>
              <a:t>(): string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4464EF2-7539-BDB2-08DB-1FCEB1576D7E}"/>
              </a:ext>
            </a:extLst>
          </p:cNvPr>
          <p:cNvCxnSpPr/>
          <p:nvPr/>
        </p:nvCxnSpPr>
        <p:spPr>
          <a:xfrm>
            <a:off x="5041599" y="6178442"/>
            <a:ext cx="228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B29AA58-63F3-C6B8-6AB7-319322BBB912}"/>
              </a:ext>
            </a:extLst>
          </p:cNvPr>
          <p:cNvSpPr txBox="1"/>
          <p:nvPr/>
        </p:nvSpPr>
        <p:spPr>
          <a:xfrm>
            <a:off x="10260418" y="138488"/>
            <a:ext cx="204145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/>
              <a:t>תרשים מחלקות</a:t>
            </a:r>
          </a:p>
        </p:txBody>
      </p:sp>
    </p:spTree>
    <p:extLst>
      <p:ext uri="{BB962C8B-B14F-4D97-AF65-F5344CB8AC3E}">
        <p14:creationId xmlns:p14="http://schemas.microsoft.com/office/powerpoint/2010/main" val="188476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320</Words>
  <Application>Microsoft Office PowerPoint</Application>
  <PresentationFormat>Widescreen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Zinovi Shafir</dc:creator>
  <cp:lastModifiedBy>Zinovi Shafir</cp:lastModifiedBy>
  <cp:revision>35</cp:revision>
  <dcterms:created xsi:type="dcterms:W3CDTF">2026-03-27T15:06:13Z</dcterms:created>
  <dcterms:modified xsi:type="dcterms:W3CDTF">2026-03-27T15:58:54Z</dcterms:modified>
</cp:coreProperties>
</file>